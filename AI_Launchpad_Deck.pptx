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29887" y="1234440"/>
            <a:ext cx="3931920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38BDF8"/>
                </a:solidFill>
                <a:latin typeface="Calibri"/>
              </a:rPr>
              <a:t>●  Powered by AMD Developer Cloud GPUs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1036289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0" b="1" i="0">
                <a:solidFill>
                  <a:srgbClr val="F8FAFC"/>
                </a:solidFill>
                <a:latin typeface="Calibri"/>
              </a:rPr>
              <a:t>AI </a:t>
            </a:r>
            <a:r>
              <a:rPr sz="6000" b="1" i="0">
                <a:solidFill>
                  <a:srgbClr val="38BDF8"/>
                </a:solidFill>
                <a:latin typeface="Calibri"/>
              </a:rPr>
              <a:t>Launchpad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29000"/>
            <a:ext cx="94484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94A3B8"/>
                </a:solidFill>
                <a:latin typeface="Calibri"/>
              </a:rPr>
              <a:t>Turn one idea into a full startup kit in seconds.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74920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38BDF8"/>
                </a:solidFill>
                <a:latin typeface="Calibri"/>
              </a:rPr>
              <a:t>AMD Developer Hackathon: ACT II  ·  Unicorn Track (Open Innovation)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32120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Jeyanth Balaji 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8FAFC"/>
                </a:solidFill>
                <a:latin typeface="Calibri"/>
              </a:rPr>
              <a:t>The blank-page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Starting a business means hours of work before you can show anyone your idea.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23160"/>
            <a:ext cx="3419856" cy="2377440"/>
          </a:xfrm>
          <a:prstGeom prst="roundRect">
            <a:avLst>
              <a:gd name="adj" fmla="val 9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  <a:effectLst>
            <a:outerShdw blurRad="90000" dist="40000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" y="274320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8FAFC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611880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8FAFC"/>
                </a:solidFill>
                <a:latin typeface="Calibri"/>
              </a:rPr>
              <a:t>Naming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114800"/>
            <a:ext cx="277977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94A3B8"/>
                </a:solidFill>
                <a:latin typeface="Calibri"/>
              </a:rPr>
              <a:t>Brainstorming a name, tagline, and value proposition that actually lands.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17136" y="2423160"/>
            <a:ext cx="3419856" cy="2377440"/>
          </a:xfrm>
          <a:prstGeom prst="roundRect">
            <a:avLst>
              <a:gd name="adj" fmla="val 9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  <a:effectLst>
            <a:outerShdw blurRad="90000" dist="40000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37176" y="2743200"/>
            <a:ext cx="640080" cy="64008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8FAF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37176" y="3611880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8FAFC"/>
                </a:solidFill>
                <a:latin typeface="Calibri"/>
              </a:rPr>
              <a:t>Copywriting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7176" y="4114800"/>
            <a:ext cx="277977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94A3B8"/>
                </a:solidFill>
                <a:latin typeface="Calibri"/>
              </a:rPr>
              <a:t>Writing a landing page — headline, features, and a call to action.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1312" y="2423160"/>
            <a:ext cx="3419856" cy="2377440"/>
          </a:xfrm>
          <a:prstGeom prst="roundRect">
            <a:avLst>
              <a:gd name="adj" fmla="val 9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  <a:effectLst>
            <a:outerShdw blurRad="90000" dist="40000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31352" y="2743200"/>
            <a:ext cx="640080" cy="64008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8FAFC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1352" y="3611880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8FAFC"/>
                </a:solidFill>
                <a:latin typeface="Calibri"/>
              </a:rPr>
              <a:t>Branding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1352" y="4114800"/>
            <a:ext cx="277977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94A3B8"/>
                </a:solidFill>
                <a:latin typeface="Calibri"/>
              </a:rPr>
              <a:t>Choosing colors, a logo direction, and a consistent visual identity.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212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94A3B8"/>
                </a:solidFill>
                <a:latin typeface="Calibri"/>
              </a:rPr>
              <a:t>The result: </a:t>
            </a:r>
            <a:r>
              <a:rPr sz="2000" b="1" i="0">
                <a:solidFill>
                  <a:srgbClr val="F8FAFC"/>
                </a:solidFill>
                <a:latin typeface="Calibri"/>
              </a:rPr>
              <a:t>great ideas stall at the starting 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8FAFC"/>
                </a:solidFill>
                <a:latin typeface="Calibri"/>
              </a:rPr>
              <a:t>One sentence in. A full kit out.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94A3B8"/>
                </a:solidFill>
                <a:latin typeface="Calibri"/>
              </a:rPr>
              <a:t>Type one line — </a:t>
            </a:r>
            <a:r>
              <a:rPr sz="1800" b="1" i="0">
                <a:solidFill>
                  <a:srgbClr val="F8FAFC"/>
                </a:solidFill>
                <a:latin typeface="Calibri"/>
              </a:rPr>
              <a:t>“an app that helps students find part-time jobs”</a:t>
            </a:r>
            <a:r>
              <a:rPr sz="1800" b="0" i="0">
                <a:solidFill>
                  <a:srgbClr val="94A3B8"/>
                </a:solidFill>
                <a:latin typeface="Calibri"/>
              </a:rPr>
              <a:t> — and a crew of AI agents delivers a complete starter kit in ~30 seconds.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651760"/>
            <a:ext cx="2587752" cy="2286000"/>
          </a:xfrm>
          <a:prstGeom prst="roundRect">
            <a:avLst>
              <a:gd name="adj" fmla="val 9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  <a:effectLst>
            <a:outerShdw blurRad="90000" dist="40000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" y="292608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3520440"/>
            <a:ext cx="20391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Name &amp; tagline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4023360"/>
            <a:ext cx="20391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94A3B8"/>
                </a:solidFill>
                <a:latin typeface="Calibri"/>
              </a:rPr>
              <a:t>A punchy identity + value proposition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66744" y="2651760"/>
            <a:ext cx="2587752" cy="2286000"/>
          </a:xfrm>
          <a:prstGeom prst="roundRect">
            <a:avLst>
              <a:gd name="adj" fmla="val 9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  <a:effectLst>
            <a:outerShdw blurRad="90000" dist="40000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959352" y="2926080"/>
            <a:ext cx="384048" cy="384048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59352" y="3520440"/>
            <a:ext cx="20391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Landing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9352" y="4023360"/>
            <a:ext cx="20391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94A3B8"/>
                </a:solidFill>
                <a:latin typeface="Calibri"/>
              </a:rPr>
              <a:t>Hero, three features, and a call to 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2651760"/>
            <a:ext cx="2587752" cy="2286000"/>
          </a:xfrm>
          <a:prstGeom prst="roundRect">
            <a:avLst>
              <a:gd name="adj" fmla="val 9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  <a:effectLst>
            <a:outerShdw blurRad="90000" dist="40000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03136" y="2926080"/>
            <a:ext cx="384048" cy="38404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03136" y="3520440"/>
            <a:ext cx="20391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Brand look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3136" y="4023360"/>
            <a:ext cx="20391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94A3B8"/>
                </a:solidFill>
                <a:latin typeface="Calibri"/>
              </a:rPr>
              <a:t>A 5-color palette, logo concept, and font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54312" y="2651760"/>
            <a:ext cx="2587752" cy="2286000"/>
          </a:xfrm>
          <a:prstGeom prst="roundRect">
            <a:avLst>
              <a:gd name="adj" fmla="val 9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  <a:effectLst>
            <a:outerShdw blurRad="90000" dist="40000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46920" y="2926080"/>
            <a:ext cx="384048" cy="38404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6920" y="3520440"/>
            <a:ext cx="20391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Social captions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4023360"/>
            <a:ext cx="20391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94A3B8"/>
                </a:solidFill>
                <a:latin typeface="Calibri"/>
              </a:rPr>
              <a:t>Three launch posts, ready to publish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4406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0" i="0">
                <a:solidFill>
                  <a:srgbClr val="94A3B8"/>
                </a:solidFill>
                <a:latin typeface="Calibri"/>
              </a:rPr>
              <a:t>You watch it appear live — </a:t>
            </a:r>
            <a:r>
              <a:rPr sz="1900" b="1" i="0">
                <a:solidFill>
                  <a:srgbClr val="38BDF8"/>
                </a:solidFill>
                <a:latin typeface="Calibri"/>
              </a:rPr>
              <a:t>the “wow” moment.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8FAFC"/>
                </a:solidFill>
                <a:latin typeface="Calibri"/>
              </a:rPr>
              <a:t>A crew of four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94A3B8"/>
                </a:solidFill>
                <a:latin typeface="Calibri"/>
              </a:rPr>
              <a:t>The Strategist runs first — then the other three work in parallel for speed.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2587752" cy="1965960"/>
          </a:xfrm>
          <a:prstGeom prst="roundRect">
            <a:avLst>
              <a:gd name="adj" fmla="val 9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  <a:effectLst>
            <a:outerShdw blurRad="90000" dist="40000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" y="2578608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8FAFC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615184"/>
            <a:ext cx="149047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Strategist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337560"/>
            <a:ext cx="20391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94A3B8"/>
                </a:solidFill>
                <a:latin typeface="Calibri"/>
              </a:rPr>
              <a:t>name · tagline · value prop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66744" y="2286000"/>
            <a:ext cx="2587752" cy="1965960"/>
          </a:xfrm>
          <a:prstGeom prst="roundRect">
            <a:avLst>
              <a:gd name="adj" fmla="val 9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  <a:effectLst>
            <a:outerShdw blurRad="90000" dist="40000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959352" y="2578608"/>
            <a:ext cx="566928" cy="566928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8FAF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615184"/>
            <a:ext cx="149047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Copywriter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9352" y="3337560"/>
            <a:ext cx="20391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94A3B8"/>
                </a:solidFill>
                <a:latin typeface="Calibri"/>
              </a:rPr>
              <a:t>landing-page copy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2286000"/>
            <a:ext cx="2587752" cy="1965960"/>
          </a:xfrm>
          <a:prstGeom prst="roundRect">
            <a:avLst>
              <a:gd name="adj" fmla="val 9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  <a:effectLst>
            <a:outerShdw blurRad="90000" dist="40000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03136" y="2578608"/>
            <a:ext cx="566928" cy="5669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8FAFC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0648" y="2615184"/>
            <a:ext cx="149047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Brand Designer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3136" y="3337560"/>
            <a:ext cx="20391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94A3B8"/>
                </a:solidFill>
                <a:latin typeface="Calibri"/>
              </a:rPr>
              <a:t>palette · logo · font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54312" y="2286000"/>
            <a:ext cx="2587752" cy="1965960"/>
          </a:xfrm>
          <a:prstGeom prst="roundRect">
            <a:avLst>
              <a:gd name="adj" fmla="val 9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  <a:effectLst>
            <a:outerShdw blurRad="90000" dist="40000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46920" y="2578608"/>
            <a:ext cx="566928" cy="5669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8FAFC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14432" y="2615184"/>
            <a:ext cx="149047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Social Manager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3337560"/>
            <a:ext cx="20391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94A3B8"/>
                </a:solidFill>
                <a:latin typeface="Calibri"/>
              </a:rPr>
              <a:t>3 launch captions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617720"/>
            <a:ext cx="10545775" cy="1417320"/>
          </a:xfrm>
          <a:prstGeom prst="roundRect">
            <a:avLst>
              <a:gd name="adj" fmla="val 9000"/>
            </a:avLst>
          </a:prstGeom>
          <a:solidFill>
            <a:srgbClr val="243147"/>
          </a:solidFill>
          <a:ln w="9525">
            <a:solidFill>
              <a:srgbClr val="334155"/>
            </a:solidFill>
          </a:ln>
          <a:effectLst/>
          <a:effectLst>
            <a:outerShdw blurRad="90000" dist="40000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4828032"/>
            <a:ext cx="99669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38BDF8"/>
                </a:solidFill>
                <a:latin typeface="Calibri"/>
              </a:rPr>
              <a:t>Under the hood:  </a:t>
            </a:r>
            <a:r>
              <a:rPr sz="1550" b="0" i="0">
                <a:solidFill>
                  <a:srgbClr val="94A3B8"/>
                </a:solidFill>
                <a:latin typeface="Calibri"/>
              </a:rPr>
              <a:t>each agent is a single focused LLM call on </a:t>
            </a:r>
            <a:r>
              <a:rPr sz="1550" b="1" i="0">
                <a:solidFill>
                  <a:srgbClr val="F8FAFC"/>
                </a:solidFill>
                <a:latin typeface="Calibri"/>
              </a:rPr>
              <a:t>an open model running on AMD GPUs (vLLM)</a:t>
            </a:r>
            <a:r>
              <a:rPr sz="1550" b="0" i="0">
                <a:solidFill>
                  <a:srgbClr val="94A3B8"/>
                </a:solidFill>
                <a:latin typeface="Calibri"/>
              </a:rPr>
              <a:t>, forced to return JSON so the UI renders reliably. The orchestrator is </a:t>
            </a:r>
            <a:r>
              <a:rPr sz="1550" b="1" i="0">
                <a:solidFill>
                  <a:srgbClr val="F8FAFC"/>
                </a:solidFill>
                <a:latin typeface="Calibri"/>
              </a:rPr>
              <a:t>resilient</a:t>
            </a:r>
            <a:r>
              <a:rPr sz="1550" b="0" i="0">
                <a:solidFill>
                  <a:srgbClr val="94A3B8"/>
                </a:solidFill>
                <a:latin typeface="Calibri"/>
              </a:rPr>
              <a:t> — if one agent fails, the others still return, so a live demo never breaks.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8FAFC"/>
                </a:solidFill>
                <a:latin typeface="Calibri"/>
              </a:rPr>
              <a:t>Real output, generated on AMD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94A3B8"/>
                </a:solidFill>
                <a:latin typeface="Calibri"/>
              </a:rPr>
              <a:t>From </a:t>
            </a:r>
            <a:r>
              <a:rPr sz="1600" b="1" i="0">
                <a:solidFill>
                  <a:srgbClr val="F8FAFC"/>
                </a:solidFill>
                <a:latin typeface="Calibri"/>
              </a:rPr>
              <a:t>“an app that helps students find part-time jobs”</a:t>
            </a:r>
            <a:r>
              <a:rPr sz="1600" b="0" i="0">
                <a:solidFill>
                  <a:srgbClr val="94A3B8"/>
                </a:solidFill>
                <a:latin typeface="Calibri"/>
              </a:rPr>
              <a:t> — one real run of the crew on an AMD GPU.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6766560" cy="3977639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  <a:effectLst>
            <a:outerShdw blurRad="90000" dist="40000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43000" y="2286000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2600" b="1">
                <a:solidFill>
                  <a:srgbClr val="F8FAFC"/>
                </a:solidFill>
                <a:latin typeface="Calibri"/>
              </a:rPr>
              <a:t>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8528" y="228600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F8FAFC"/>
                </a:solidFill>
                <a:latin typeface="Calibri"/>
              </a:rPr>
              <a:t>JobHopper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56816" y="2779776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38BDF8"/>
                </a:solidFill>
                <a:latin typeface="Calibri"/>
              </a:rPr>
              <a:t>Find your flex job, college student!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310128"/>
            <a:ext cx="6263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800" b="1" i="0">
                <a:solidFill>
                  <a:srgbClr val="F8FAFC"/>
                </a:solidFill>
                <a:latin typeface="Calibri"/>
              </a:rPr>
              <a:t>Find Your Dream Job, Tailored Just For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041648"/>
            <a:ext cx="6263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JobHopper connects you with customized job opportunities that fit your skills and preferences. Work on your terms.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828032"/>
            <a:ext cx="1993392" cy="457200"/>
          </a:xfrm>
          <a:prstGeom prst="roundRect">
            <a:avLst>
              <a:gd name="adj" fmla="val 50000"/>
            </a:avLst>
          </a:prstGeom>
          <a:solidFill>
            <a:srgbClr val="243147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050" b="1">
                <a:solidFill>
                  <a:srgbClr val="F8FAFC"/>
                </a:solidFill>
                <a:latin typeface="Calibri"/>
              </a:rPr>
              <a:t>Tailored Opportunities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73552" y="4828032"/>
            <a:ext cx="1993392" cy="457200"/>
          </a:xfrm>
          <a:prstGeom prst="roundRect">
            <a:avLst>
              <a:gd name="adj" fmla="val 50000"/>
            </a:avLst>
          </a:prstGeom>
          <a:solidFill>
            <a:srgbClr val="243147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050" b="1">
                <a:solidFill>
                  <a:srgbClr val="F8FAFC"/>
                </a:solidFill>
                <a:latin typeface="Calibri"/>
              </a:rPr>
              <a:t>Flexible Hours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04104" y="4828032"/>
            <a:ext cx="1993392" cy="457200"/>
          </a:xfrm>
          <a:prstGeom prst="roundRect">
            <a:avLst>
              <a:gd name="adj" fmla="val 50000"/>
            </a:avLst>
          </a:prstGeom>
          <a:solidFill>
            <a:srgbClr val="243147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050" b="1">
                <a:solidFill>
                  <a:srgbClr val="F8FAFC"/>
                </a:solidFill>
                <a:latin typeface="Calibri"/>
              </a:rPr>
              <a:t>Personalized Recs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5440680"/>
            <a:ext cx="3886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200" b="1">
                <a:solidFill>
                  <a:srgbClr val="F8FAFC"/>
                </a:solidFill>
                <a:latin typeface="Calibri"/>
              </a:rPr>
              <a:t>Start Your JobHopper Journey Now  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965960"/>
            <a:ext cx="3547872" cy="3977639"/>
          </a:xfrm>
          <a:prstGeom prst="roundRect">
            <a:avLst>
              <a:gd name="adj" fmla="val 9000"/>
            </a:avLst>
          </a:prstGeom>
          <a:solidFill>
            <a:srgbClr val="243147"/>
          </a:solidFill>
          <a:ln w="9525">
            <a:solidFill>
              <a:srgbClr val="334155"/>
            </a:solidFill>
          </a:ln>
          <a:effectLst/>
          <a:effectLst>
            <a:outerShdw blurRad="90000" dist="40000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2212848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Calibri"/>
              </a:rPr>
              <a:t>BRAND PALETTE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5603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4CAF50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68512" y="25603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98864" y="25603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32CD32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729216" y="25603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98FB98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259568" y="25603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D3D3D3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32461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Calibri"/>
              </a:rPr>
              <a:t>LAUNCH POST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3566160"/>
            <a:ext cx="3017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1">
                <a:solidFill>
                  <a:srgbClr val="F8FAFC"/>
                </a:solidFill>
                <a:latin typeface="Calibri"/>
              </a:rPr>
              <a:t>“Revolutionize your job search with JobHopper! Find tailored opportunities &amp; work on your terms. #JobHopper #CareerRevolution”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5349240"/>
            <a:ext cx="2907792" cy="4572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000" b="1">
                <a:solidFill>
                  <a:srgbClr val="38BDF8"/>
                </a:solidFill>
                <a:latin typeface="Calibri"/>
              </a:rPr>
              <a:t>▸ Qwen2.5-7B-Instruct · vLLM on AMD GPU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089904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34D399"/>
                </a:solidFill>
                <a:latin typeface="Calibri"/>
              </a:rPr>
              <a:t>✓  </a:t>
            </a:r>
            <a:r>
              <a:rPr sz="1250" b="0" i="0">
                <a:solidFill>
                  <a:srgbClr val="94A3B8"/>
                </a:solidFill>
                <a:latin typeface="Calibri"/>
              </a:rPr>
              <a:t>Generated live on an AMD Developer Cloud GPU — no cloud LLM API, no mock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8FAFC"/>
                </a:solidFill>
                <a:latin typeface="Calibri"/>
              </a:rPr>
              <a:t>Built on AMD compute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94A3B8"/>
                </a:solidFill>
                <a:latin typeface="Calibri"/>
              </a:rPr>
              <a:t>Every agent runs on AMD GPUs — and the whole app is containerized for AMD Developer Cloud.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2587752" cy="2148840"/>
          </a:xfrm>
          <a:prstGeom prst="roundRect">
            <a:avLst>
              <a:gd name="adj" fmla="val 9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  <a:effectLst>
            <a:outerShdw blurRad="90000" dist="40000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" y="267004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3246120"/>
            <a:ext cx="2039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730752"/>
            <a:ext cx="20391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94A3B8"/>
                </a:solidFill>
                <a:latin typeface="Calibri"/>
              </a:rPr>
              <a:t>React + Vite + Tailwind CSS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66744" y="2377440"/>
            <a:ext cx="2587752" cy="2148840"/>
          </a:xfrm>
          <a:prstGeom prst="roundRect">
            <a:avLst>
              <a:gd name="adj" fmla="val 9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  <a:effectLst>
            <a:outerShdw blurRad="90000" dist="40000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959352" y="2670048"/>
            <a:ext cx="384048" cy="384048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59352" y="3246120"/>
            <a:ext cx="2039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9352" y="3730752"/>
            <a:ext cx="20391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94A3B8"/>
                </a:solidFill>
                <a:latin typeface="Calibri"/>
              </a:rPr>
              <a:t>Python + FastAPI orchestration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2377440"/>
            <a:ext cx="2587752" cy="2148840"/>
          </a:xfrm>
          <a:prstGeom prst="roundRect">
            <a:avLst>
              <a:gd name="adj" fmla="val 9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  <a:effectLst>
            <a:outerShdw blurRad="90000" dist="40000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03136" y="2670048"/>
            <a:ext cx="384048" cy="38404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03136" y="3246120"/>
            <a:ext cx="2039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AI compute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3136" y="3730752"/>
            <a:ext cx="20391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94A3B8"/>
                </a:solidFill>
                <a:latin typeface="Calibri"/>
              </a:rPr>
              <a:t>AMD Developer Cloud GPU · vLLM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54312" y="2377440"/>
            <a:ext cx="2587752" cy="2148840"/>
          </a:xfrm>
          <a:prstGeom prst="roundRect">
            <a:avLst>
              <a:gd name="adj" fmla="val 9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  <a:effectLst>
            <a:outerShdw blurRad="90000" dist="40000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46920" y="2670048"/>
            <a:ext cx="384048" cy="38404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6920" y="3246120"/>
            <a:ext cx="2039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Packaging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3730752"/>
            <a:ext cx="20391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94A3B8"/>
                </a:solidFill>
                <a:latin typeface="Calibri"/>
              </a:rPr>
              <a:t>Docker → AMD Developer Cloud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892040"/>
            <a:ext cx="10545775" cy="1097280"/>
          </a:xfrm>
          <a:prstGeom prst="roundRect">
            <a:avLst>
              <a:gd name="adj" fmla="val 9000"/>
            </a:avLst>
          </a:prstGeom>
          <a:solidFill>
            <a:srgbClr val="243147"/>
          </a:solidFill>
          <a:ln w="9525">
            <a:solidFill>
              <a:srgbClr val="334155"/>
            </a:solidFill>
          </a:ln>
          <a:effectLst/>
          <a:effectLst>
            <a:outerShdw blurRad="90000" dist="40000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029200"/>
            <a:ext cx="9966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550" b="0" i="0">
                <a:solidFill>
                  <a:srgbClr val="94A3B8"/>
                </a:solidFill>
                <a:latin typeface="Calibri"/>
              </a:rPr>
              <a:t>Proven on an AMD Developer Cloud GPU (Qwen2.5-7B via vLLM) · </a:t>
            </a:r>
            <a:r>
              <a:rPr sz="1550" b="1" i="0">
                <a:solidFill>
                  <a:srgbClr val="F8FAFC"/>
                </a:solidFill>
                <a:latin typeface="Calibri"/>
              </a:rPr>
              <a:t>same OpenAI-compatible code runs on Fireworks AI, also on AMD GPUs.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8FAFC"/>
                </a:solidFill>
                <a:latin typeface="Calibri"/>
              </a:rPr>
              <a:t>Why AI Launchpad stands 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3419856" cy="1600200"/>
          </a:xfrm>
          <a:prstGeom prst="roundRect">
            <a:avLst>
              <a:gd name="adj" fmla="val 9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  <a:effectLst>
            <a:outerShdw blurRad="90000" dist="40000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1847088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8FAFC"/>
                </a:solidFill>
                <a:latin typeface="Calibr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19072" y="1847088"/>
            <a:ext cx="236829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8FAFC"/>
                </a:solidFill>
                <a:latin typeface="Calibri"/>
              </a:rPr>
              <a:t>Live agent reveal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50591"/>
            <a:ext cx="29169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94A3B8"/>
                </a:solidFill>
                <a:latin typeface="Calibri"/>
              </a:rPr>
              <a:t>Judges watch the crew work, one by 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17136" y="1554480"/>
            <a:ext cx="3419856" cy="1600200"/>
          </a:xfrm>
          <a:prstGeom prst="roundRect">
            <a:avLst>
              <a:gd name="adj" fmla="val 9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  <a:effectLst>
            <a:outerShdw blurRad="90000" dist="40000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91456" y="1847088"/>
            <a:ext cx="457200" cy="45720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8FAFC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13248" y="1847088"/>
            <a:ext cx="236829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8FAFC"/>
                </a:solidFill>
                <a:latin typeface="Calibri"/>
              </a:rPr>
              <a:t>Full brand kit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91456" y="2450591"/>
            <a:ext cx="29169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94A3B8"/>
                </a:solidFill>
                <a:latin typeface="Calibri"/>
              </a:rPr>
              <a:t>Name, page, palette, logo mark, captions.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11312" y="1554480"/>
            <a:ext cx="3419856" cy="1600200"/>
          </a:xfrm>
          <a:prstGeom prst="roundRect">
            <a:avLst>
              <a:gd name="adj" fmla="val 9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  <a:effectLst>
            <a:outerShdw blurRad="90000" dist="40000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85632" y="1847088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8FAFC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07424" y="1847088"/>
            <a:ext cx="236829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8FAFC"/>
                </a:solidFill>
                <a:latin typeface="Calibri"/>
              </a:rPr>
              <a:t>Download kit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2450591"/>
            <a:ext cx="29169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94A3B8"/>
                </a:solidFill>
                <a:latin typeface="Calibri"/>
              </a:rPr>
              <a:t>Exports a standalone, brand-styled landing page.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429000"/>
            <a:ext cx="3419856" cy="1600200"/>
          </a:xfrm>
          <a:prstGeom prst="roundRect">
            <a:avLst>
              <a:gd name="adj" fmla="val 9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  <a:effectLst>
            <a:outerShdw blurRad="90000" dist="40000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7280" y="3721608"/>
            <a:ext cx="457200" cy="4572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8FAFC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19072" y="3721608"/>
            <a:ext cx="236829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8FAFC"/>
                </a:solidFill>
                <a:latin typeface="Calibri"/>
              </a:rPr>
              <a:t>Works for any idea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325112"/>
            <a:ext cx="29169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94A3B8"/>
                </a:solidFill>
                <a:latin typeface="Calibri"/>
              </a:rPr>
              <a:t>Coffee, fitness, tutoring — unique every time.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17136" y="3429000"/>
            <a:ext cx="3419856" cy="1600200"/>
          </a:xfrm>
          <a:prstGeom prst="roundRect">
            <a:avLst>
              <a:gd name="adj" fmla="val 9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  <a:effectLst>
            <a:outerShdw blurRad="90000" dist="40000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91456" y="3721608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8FAFC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13248" y="3721608"/>
            <a:ext cx="236829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8FAFC"/>
                </a:solidFill>
                <a:latin typeface="Calibri"/>
              </a:rPr>
              <a:t>Resilient by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91456" y="4325112"/>
            <a:ext cx="29169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94A3B8"/>
                </a:solidFill>
                <a:latin typeface="Calibri"/>
              </a:rPr>
              <a:t>One failed agent never breaks the demo.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11312" y="3429000"/>
            <a:ext cx="3419856" cy="1600200"/>
          </a:xfrm>
          <a:prstGeom prst="roundRect">
            <a:avLst>
              <a:gd name="adj" fmla="val 9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  <a:effectLst>
            <a:outerShdw blurRad="90000" dist="40000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85632" y="3721608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8FAFC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07424" y="3721608"/>
            <a:ext cx="236829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8FAFC"/>
                </a:solidFill>
                <a:latin typeface="Calibri"/>
              </a:rPr>
              <a:t>Runs on AMD GPUs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5632" y="4325112"/>
            <a:ext cx="29169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94A3B8"/>
                </a:solidFill>
                <a:latin typeface="Calibri"/>
              </a:rPr>
              <a:t>Self-hosted vLLM on AMD Developer Cloud.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3628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F8FAFC"/>
                </a:solidFill>
                <a:latin typeface="Calibri"/>
              </a:rPr>
              <a:t>The fastest way from idea to launch.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628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38BDF8"/>
                </a:solidFill>
                <a:latin typeface="Calibri"/>
              </a:rPr>
              <a:t>For every founder, student, and creator.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18407" y="4343400"/>
            <a:ext cx="4754880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38BDF8"/>
                </a:solidFill>
                <a:latin typeface="Calibri"/>
              </a:rPr>
              <a:t>●  github.com/JeyanthBalaji/ai-launchpad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257800"/>
            <a:ext cx="103628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8FAFC"/>
                </a:solidFill>
                <a:latin typeface="Calibri"/>
              </a:rPr>
              <a:t>AI </a:t>
            </a:r>
            <a:r>
              <a:rPr sz="1600" b="1" i="0">
                <a:solidFill>
                  <a:srgbClr val="38BDF8"/>
                </a:solidFill>
                <a:latin typeface="Calibri"/>
              </a:rPr>
              <a:t>Launchpad</a:t>
            </a:r>
            <a:r>
              <a:rPr sz="1600" b="0" i="0">
                <a:solidFill>
                  <a:srgbClr val="94A3B8"/>
                </a:solidFill>
                <a:latin typeface="Calibri"/>
              </a:rPr>
              <a:t>  ·  AMD Developer Hackathon: ACT 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